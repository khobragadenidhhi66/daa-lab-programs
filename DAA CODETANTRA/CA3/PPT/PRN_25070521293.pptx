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402737f-ed41-af1a-31f1-0b8a599fae3f}">
          <p14:sldIdLst>
            <p14:sldId id="256"/>
            <p14:sldId id="257"/>
          </p14:sldIdLst>
        </p14:section>
        <p14:section name="Kruskal's Algorithm" id="{0f185050-df60-df92-8e5e-8e9d97948254}">
          <p14:sldIdLst>
            <p14:sldId id="258"/>
          </p14:sldIdLst>
        </p14:section>
        <p14:section name="Prim's Algorithm" id="{18a33372-6f77-65fa-319d-e39e71e0e904}">
          <p14:sldIdLst>
            <p14:sldId id="259"/>
          </p14:sldIdLst>
        </p14:section>
        <p14:section name="Comparison" id="{42571b1b-e761-c993-39fd-80175c5c3204}">
          <p14:sldIdLst>
            <p14:sldId id="260"/>
            <p14:sldId id="261"/>
          </p14:sldIdLst>
        </p14:section>
        <p14:section name="Applications" id="{26c35720-fb29-757d-e6df-c63d6baa0d9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two classic greedy algorithms that find the cheapest way to connect every vertex of a weighted graph: Prim and Kruskal. The graph on the right previews the answer: the gold edges are the minimum spanning tree, total cost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cities, seven candidate roads. A spanning tree uses exactly V minus 1 edges with no cycles; the minimum one has the lowest total weight. Greedy choices work because of the cut and cycle properties. The gold edges are the answer: total cost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sort, inspect the lightest edge, check roots in the disjoint-set union, then discard or finish. On our graph B–C, A–C and D–E go in; A–B would close a cycle through C; B–D joins the two groups; four edges means V minus 1, so we stop at weight 10. Complexity O(E log E), with near-constant-time DSU checks thanks to path compression and rank. Strategy: global sort; structure: disjoint sets. Best on sparse graphs where edges are few relative to V squared.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 starts from any vertex. At each step it inspects all edges crossing the cut between the tree and everything else and takes the cheapest one; a min-heap makes that fast and decreaseKey updates neighbours. Running complexity is O((V + E) log V) with a binary heap and drops to O(E + V log V) with Fibonacci heaps. It dominates on dense graphs (E close to V squared) because the vertex checks scale predictably.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 is vertex-oriented and grows one tree; Kruskal is edge-oriented and merges a forest. Dense graphs or adjacency matrices favour Prim. Sparse graphs or pre-sorted edge lists favour Kruskal. Cycle prevention is implicit in Prim and explicit via Find in Kruskal.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 with an adjacency matrix runs in V squared, ideal for dense graphs. With a binary heap it is E log V. Kruskal is dominated by sorting, E log E, and its cycle checks are almost constant time thanks to union-find.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Anywhere the goal is 'connect everything as cheaply as possible' you will find an MST: network design, transportation, clustering in machine learning, image segmentation. To close: Kruskal sorts edges and merges a forest, Prim grows one tree, both are greedy and optimal.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85216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Title</a:t>
            </a: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760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 ALGORITHMS  ·  PRIM &amp; KRUSKAL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8778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Title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STRUCTURES &amp; ALGORITHMS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5852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Minimum Spanning Tree Algorithms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Optimal edge-weight minimisation on connected undirected graphs, via Prim's cut-property growth and Kruskal's forest-merging strategy.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2651760" cy="329184"/>
          </a:xfrm>
          <a:prstGeom prst="roundRect">
            <a:avLst>
              <a:gd name="adj" fmla="val 27778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617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Prim's  ·  Vertex growth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4617720"/>
            <a:ext cx="2651760" cy="329184"/>
          </a:xfrm>
          <a:prstGeom prst="roundRect">
            <a:avLst>
              <a:gd name="adj" fmla="val 27778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4617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Kruskal's  ·  Edge union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40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15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Nidhhi Khobragade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5440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5715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25070521293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5440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5715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5440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TOOL USED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5715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Claude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12280" y="777240"/>
            <a:ext cx="4846320" cy="5212080"/>
          </a:xfrm>
          <a:prstGeom prst="roundRect">
            <a:avLst>
              <a:gd name="adj" fmla="val 4717"/>
            </a:avLst>
          </a:prstGeom>
          <a:solidFill>
            <a:schemeClr val="tx2"/>
          </a:solidFill>
          <a:ln/>
        </p:spPr>
      </p:sp>
      <p:sp>
        <p:nvSpPr>
          <p:cNvPr id="18" name="Shape 16"/>
          <p:cNvSpPr/>
          <p:nvPr/>
        </p:nvSpPr>
        <p:spPr>
          <a:xfrm flipV="1">
            <a:off x="7584034" y="1611173"/>
            <a:ext cx="1267358" cy="1319479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51392" y="1611173"/>
            <a:ext cx="2035454" cy="67757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4034" y="2930652"/>
            <a:ext cx="883310" cy="1604772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467344" y="1611173"/>
            <a:ext cx="384048" cy="2924251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467344" y="2288743"/>
            <a:ext cx="2419502" cy="2246681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848442" y="2288743"/>
            <a:ext cx="38405" cy="2246681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67344" y="4535424"/>
            <a:ext cx="2381098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3977" y="2097176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3977" y="209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5383" y="1776222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5383" y="177622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51953" y="3559302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51953" y="35593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85632" y="2899562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85632" y="289956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03359" y="3238348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03359" y="32383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693908" y="3238348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93908" y="32383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84157" y="4361688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84157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81698" y="2528316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40" name="Shape 38"/>
          <p:cNvSpPr/>
          <p:nvPr/>
        </p:nvSpPr>
        <p:spPr>
          <a:xfrm>
            <a:off x="7309714" y="2656332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09714" y="26563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449056" y="1208837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43" name="Shape 41"/>
          <p:cNvSpPr/>
          <p:nvPr/>
        </p:nvSpPr>
        <p:spPr>
          <a:xfrm>
            <a:off x="8577072" y="1336853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77072" y="133685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484510" y="1886407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12526" y="2014423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612526" y="201442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065008" y="4133088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49" name="Shape 47"/>
          <p:cNvSpPr/>
          <p:nvPr/>
        </p:nvSpPr>
        <p:spPr>
          <a:xfrm>
            <a:off x="8193024" y="4261104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93024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446106" y="4133088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74122" y="4261104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574122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5257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MST_COST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5440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3200" dirty="0"/>
          </a:p>
        </p:txBody>
      </p:sp>
      <p:sp>
        <p:nvSpPr>
          <p:cNvPr id="56" name="Text 54"/>
          <p:cNvSpPr txBox="1"/>
          <p:nvPr/>
        </p:nvSpPr>
        <p:spPr>
          <a:xfrm>
            <a:off x="8229600" y="5596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|V| = 5  ·  |E| = 7  ·  4 edges chosen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GRAPH THEORY  ·  CORE DEFINITION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What is a minimum spanning tree?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 connected, undirected, weighted graph G = (V, E) admits a spanning tree that covers all |V| vertices at minimal total cost.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85216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|V| − 1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Spanning &amp; acyclic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0837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Connects every vertex using exactly |V| − 1 edges, with strictly no cycles.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85032"/>
            <a:ext cx="585216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850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Σ w(e)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Minimal weight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408736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Minimises the aggregate cost w(T) = Σ w(e) over all possible spanning trees.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64024"/>
            <a:ext cx="585216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64024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Greedy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4873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Greedy choice property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5166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Locally optimal edge selections yield a globally optimal tree, via cut and cycle invariants.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870448"/>
            <a:ext cx="5852160" cy="329184"/>
          </a:xfrm>
          <a:prstGeom prst="roundRect">
            <a:avLst>
              <a:gd name="adj" fmla="val 27778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87044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undirected · connected · weighted real edges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600200"/>
            <a:ext cx="4919472" cy="4617720"/>
          </a:xfrm>
          <a:prstGeom prst="roundRect">
            <a:avLst>
              <a:gd name="adj" fmla="val 3960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9516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 1  ·  G(V, 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1938528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19488" y="1828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 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0" y="1938528"/>
            <a:ext cx="18288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0771632" y="1828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Discarded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7420356" y="2618842"/>
            <a:ext cx="1357884" cy="1116482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778240" y="2618842"/>
            <a:ext cx="2180844" cy="573329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0356" y="3735324"/>
            <a:ext cx="946404" cy="1357884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366760" y="2618842"/>
            <a:ext cx="411480" cy="2474366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8366760" y="3192170"/>
            <a:ext cx="2592324" cy="1901038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10917936" y="3192170"/>
            <a:ext cx="41148" cy="1901038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5093208"/>
            <a:ext cx="2551176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925562" y="3003347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25562" y="300334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4926" y="2731770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94926" y="27317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19822" y="4240530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19822" y="424053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98764" y="3682289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98764" y="368228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489186" y="3968953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89186" y="39689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764774" y="3968953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64774" y="39689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468612" y="4919472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68612" y="4919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18020" y="3332988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46036" y="3461004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46036" y="34610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75904" y="2216506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03920" y="2344522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03920" y="234452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0556748" y="2789834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684764" y="2917850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684764" y="291785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7964424" y="4690872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92440" y="4818888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9244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515600" y="4690872"/>
            <a:ext cx="804672" cy="804672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43616" y="4818888"/>
            <a:ext cx="548640" cy="54864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643616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995160" y="5669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|V| = 5   |E| = 7   MST weight = 1 + 2 + 2 + 5 = 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ALGORITHM 02  ·  EDGE-CENTRIC STRATEGY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Kruskal's: sort, check, merge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4650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47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Sort all edges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Sort edges by non-decreasing weight; each vertex starts in its own set.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28346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1912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sort(edges, key=weight)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make_set(v) for v in 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86200" y="160020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4096512" y="174650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96512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847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Inspect the lightest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Take the lightest edge (u, v) and query the DSU roots of both ends.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69080" y="3191256"/>
            <a:ext cx="28346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60520" y="31912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root_u = find(u)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root_v = find(v)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389534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39959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Cycle check &amp; union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754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Different roots mean separate trees, so connect them without a cycle.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340096"/>
            <a:ext cx="28346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3400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root_u != root_v: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union(u, v); MST.add(e)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86200" y="374904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9" name="Shape 27"/>
          <p:cNvSpPr/>
          <p:nvPr/>
        </p:nvSpPr>
        <p:spPr>
          <a:xfrm>
            <a:off x="4096512" y="389534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096512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9959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Discard or complete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4754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Cycle-forming edges are dropped; halt at exactly V − 1 valid edges.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069080" y="5340096"/>
            <a:ext cx="28346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60520" y="53400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len(MST) == V - 1: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MST  # Complete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06640" y="1600200"/>
            <a:ext cx="4233672" cy="26517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/>
        </p:spPr>
      </p:sp>
      <p:sp>
        <p:nvSpPr>
          <p:cNvPr id="37" name="Shape 35"/>
          <p:cNvSpPr/>
          <p:nvPr/>
        </p:nvSpPr>
        <p:spPr>
          <a:xfrm flipV="1">
            <a:off x="8018831" y="1982419"/>
            <a:ext cx="1161745" cy="795071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9180576" y="1982419"/>
            <a:ext cx="1865833" cy="4082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18831" y="2777490"/>
            <a:ext cx="809701" cy="966978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828532" y="1982419"/>
            <a:ext cx="352044" cy="1762049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828532" y="2390699"/>
            <a:ext cx="2217877" cy="1353769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1011205" y="2390699"/>
            <a:ext cx="35204" cy="1353769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28532" y="3744468"/>
            <a:ext cx="2182673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25967" y="2206219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25967" y="220621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939757" y="2012823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939757" y="201282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49945" y="3087243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49945" y="308724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30818" y="2689708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830818" y="26897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763735" y="2893847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763735" y="289384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8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855071" y="2893847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855071" y="289384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746132" y="3570732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746132" y="35707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10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671359" y="2430018"/>
            <a:ext cx="694944" cy="69494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59" name="Shape 57"/>
          <p:cNvSpPr/>
          <p:nvPr/>
        </p:nvSpPr>
        <p:spPr>
          <a:xfrm>
            <a:off x="7799375" y="2558034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99375" y="255803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833104" y="1634947"/>
            <a:ext cx="694944" cy="69494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2" name="Shape 60"/>
          <p:cNvSpPr/>
          <p:nvPr/>
        </p:nvSpPr>
        <p:spPr>
          <a:xfrm>
            <a:off x="8961120" y="1762963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961120" y="17629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0698937" y="2043227"/>
            <a:ext cx="694944" cy="69494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826953" y="2171243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826953" y="217124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8481060" y="3396996"/>
            <a:ext cx="694944" cy="69494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8" name="Shape 66"/>
          <p:cNvSpPr/>
          <p:nvPr/>
        </p:nvSpPr>
        <p:spPr>
          <a:xfrm>
            <a:off x="8609076" y="3525012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609076" y="35250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0663733" y="3396996"/>
            <a:ext cx="694944" cy="69494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791749" y="3525012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791749" y="35250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7406640" y="4370832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406640" y="437083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B–C · 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842248" y="4370832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842248" y="437083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A–C · 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277856" y="4370832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277856" y="437083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D–E · 2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06640" y="4736592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406640" y="473659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A–B · 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842248" y="4736592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842248" y="473659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B–D · 5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0277856" y="4736592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bg2">
              <a:alpha val="15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277856" y="473659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C–D · 8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406640" y="5102352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bg2">
              <a:alpha val="15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406640" y="510235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C–E · 10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7406640" y="548640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A–B closes the cycle A–C–B, so it is skipped. C–D and C–E are never needed.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48640" y="59893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at V − 1 = 4 edges  ·  total = 1 + 2 + 2 + 5 = 10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7406640" y="5943600"/>
            <a:ext cx="1371600" cy="329184"/>
          </a:xfrm>
          <a:prstGeom prst="roundRect">
            <a:avLst>
              <a:gd name="adj" fmla="val 27778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406640" y="5943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O(E log E)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869680" y="5943600"/>
            <a:ext cx="1463040" cy="329184"/>
          </a:xfrm>
          <a:prstGeom prst="roundRect">
            <a:avLst>
              <a:gd name="adj" fmla="val 27778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869680" y="5943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DSU: O(α(V))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GREEDY PARADIGM  ·  VERTEX-DRIVEN MST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Prim's: grow one tree outward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33672" cy="2926080"/>
          </a:xfrm>
          <a:prstGeom prst="roundRect">
            <a:avLst>
              <a:gd name="adj" fmla="val 5625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160831" y="2061058"/>
            <a:ext cx="1161745" cy="86273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22576" y="2061058"/>
            <a:ext cx="1865833" cy="443027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0831" y="2923794"/>
            <a:ext cx="809701" cy="1049274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970532" y="2061058"/>
            <a:ext cx="352044" cy="191201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970532" y="2504084"/>
            <a:ext cx="2217877" cy="146898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153205" y="2504084"/>
            <a:ext cx="35204" cy="1468984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0532" y="3973068"/>
            <a:ext cx="2182673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7967" y="2318690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67967" y="231869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81757" y="2108835"/>
            <a:ext cx="347472" cy="347472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81757" y="210883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91945" y="3274695"/>
            <a:ext cx="347472" cy="347472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91945" y="327469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72818" y="2843327"/>
            <a:ext cx="347472" cy="347472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72818" y="28433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05735" y="3064840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05735" y="306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97071" y="3064840"/>
            <a:ext cx="347472" cy="347472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97071" y="306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8132" y="3799332"/>
            <a:ext cx="347472" cy="3474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88132" y="37993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359" y="2576322"/>
            <a:ext cx="694944" cy="694944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27" name="Shape 25"/>
          <p:cNvSpPr/>
          <p:nvPr/>
        </p:nvSpPr>
        <p:spPr>
          <a:xfrm>
            <a:off x="941375" y="2704338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375" y="270433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975104" y="1713586"/>
            <a:ext cx="694944" cy="694944"/>
          </a:xfrm>
          <a:prstGeom prst="ellipse">
            <a:avLst/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03120" y="1841602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03120" y="184160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937" y="2156612"/>
            <a:ext cx="694944" cy="694944"/>
          </a:xfrm>
          <a:prstGeom prst="ellipse">
            <a:avLst/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68953" y="2284628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68953" y="22846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623060" y="3625596"/>
            <a:ext cx="694944" cy="694944"/>
          </a:xfrm>
          <a:prstGeom prst="ellipse">
            <a:avLst/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36" name="Shape 34"/>
          <p:cNvSpPr/>
          <p:nvPr/>
        </p:nvSpPr>
        <p:spPr>
          <a:xfrm>
            <a:off x="1751076" y="3753612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751076" y="37536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05733" y="3625596"/>
            <a:ext cx="694944" cy="694944"/>
          </a:xfrm>
          <a:prstGeom prst="ellipse">
            <a:avLst/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33749" y="3753612"/>
            <a:ext cx="438912" cy="43891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33749" y="37536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8640" y="4663440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663440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· 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84248" y="4663440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984248" y="4663440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A–C (2)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19856" y="4663440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19856" y="4663440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B–C (1)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047488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504748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B–D (5)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984248" y="5047488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84248" y="504748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D–E (2)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19856" y="5047488"/>
            <a:ext cx="1344168" cy="310896"/>
          </a:xfrm>
          <a:prstGeom prst="roundRect">
            <a:avLst>
              <a:gd name="adj" fmla="val 23529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419856" y="504748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· 10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48640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Each step takes the cheapest edge leaving the tree. It lands on the same tree as Kruskal.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74920" y="160020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303520" y="18470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720840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303520" y="2240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Initialize tree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5303520" y="2606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Select an arbitrary source vertex to seed tree set S. All other vertices remain in the unexplored set V \ 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458200" y="160020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686800" y="18470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10104120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686800" y="2240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Inspect the cut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8686800" y="2606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Track all frontier edges crossing the cut between S and the outside, kept in a min-heap priority queue.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74920" y="374904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303520" y="3995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6720840" y="40050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303520" y="4389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Greedy extraction</a:t>
            </a:r>
            <a:endParaRPr lang="en-US" sz="1800" dirty="0"/>
          </a:p>
        </p:txBody>
      </p:sp>
      <p:sp>
        <p:nvSpPr>
          <p:cNvPr id="68" name="Text 66"/>
          <p:cNvSpPr txBox="1"/>
          <p:nvPr/>
        </p:nvSpPr>
        <p:spPr>
          <a:xfrm>
            <a:off x="5303520" y="4754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Extract the minimum-weight frontier edge. The safe-edge property keeps the connection acyclic.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8458200" y="3749040"/>
            <a:ext cx="32004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686800" y="3995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04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10104120" y="40050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8686800" y="4389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Absorb vertex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8686800" y="4754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Absorb the target into S and decrease keys of adjacent neighbours until all |V| vertices are spanned.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queue ≠ ∅:  extractMin();  decreaseKey()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074920" y="5943600"/>
            <a:ext cx="3108960" cy="329184"/>
          </a:xfrm>
          <a:prstGeom prst="roundRect">
            <a:avLst>
              <a:gd name="adj" fmla="val 27778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074920" y="5943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O((V + E) log V) · binary heap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275320" y="5943600"/>
            <a:ext cx="3364992" cy="329184"/>
          </a:xfrm>
          <a:prstGeom prst="roundRect">
            <a:avLst>
              <a:gd name="adj" fmla="val 27778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275320" y="594360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Fibonacci heap: O(E + V log V)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COMPARATIVE SYNTHESIS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Prim's vs Kruskal's: pick your tool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48056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PRIM'S  ·  VERTEX-ORIENTED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59752" y="1600200"/>
            <a:ext cx="448056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59752" y="1600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KRUSKAL'S  ·  EDGE-ORIENTED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9" name="Shape 7"/>
          <p:cNvSpPr/>
          <p:nvPr/>
        </p:nvSpPr>
        <p:spPr>
          <a:xfrm>
            <a:off x="7159752" y="228600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228600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INVARIANT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2860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Grows a single connected tree continuously, vertex by vertex, from a start node.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42632" y="22860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Merges a disconnected forest of trees edge by edge, in ascending weight order.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7159752" y="301752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0640" y="301752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OPTIMAL TOPOLOGY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017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Dense graphs: efficient when the edge count approaches E ≈ V².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42632" y="3017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Sparse graphs: highly effective when the edge count stays near E ≈ V.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59752" y="374904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74904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STRUCTURE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7490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Priority queue (min-heap / Fibonacci heap) keyed on lowest cut weights.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7490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Disjoint set union (Union-Find) with path compression and rank heuristics.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24" name="Shape 22"/>
          <p:cNvSpPr/>
          <p:nvPr/>
        </p:nvSpPr>
        <p:spPr>
          <a:xfrm>
            <a:off x="7159752" y="448056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0" y="448056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PREVENTION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4805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Implicit: only inspects edges crossing into unvisited vertices.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44805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Explicit: checks whether endpoints share a representative, Find(u) == Find(v).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44805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303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Best when adjacency matrices exist or density is high.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59752" y="5303520"/>
            <a:ext cx="4480560" cy="457200"/>
          </a:xfrm>
          <a:prstGeom prst="roundRect">
            <a:avLst>
              <a:gd name="adj" fmla="val 2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42632" y="5303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when edges are already sorted or kept as edge lists.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RULE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If E ≈ V² choose Prim. If E ≈ V, or edges are pre-sorted, choose Kruskal.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·  ALGORITHM BENCHMARK  ·  ASYMPTOTIC EFFICIENCY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Complexity analysis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  <a:gridCol w="265176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ALGORITHM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STRUCTURE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 COMPLEXITY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OPTIMAL FOR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Prim's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Adjacency matrix + array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O(V²)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Dense graphs  (E ≈ V²)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Prim's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Binary heap + adjacency list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O(E log V)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Sparse graphs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Kruskal's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Edge-list sorting (standard)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O(E log E)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Sparse graphs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Kruskal's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Union-Find / DSU (inverse Ackermann)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O(α(V)) per op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Cycle checking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3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5394960" cy="1417320"/>
          </a:xfrm>
          <a:prstGeom prst="roundRect">
            <a:avLst>
              <a:gd name="adj" fmla="val 11613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9560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CHAMPION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852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adjacency matrix avoids priority-queue overhead when the edge count approaches its maximum (E ≈ V²).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4754880"/>
            <a:ext cx="5394960" cy="1417320"/>
          </a:xfrm>
          <a:prstGeom prst="roundRect">
            <a:avLst>
              <a:gd name="adj" fmla="val 11613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49560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 OPERATION BOUND  O(α(V))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52852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inverse Ackermann function grows so slowly that DSU checks run in virtually constant time for every practical 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·  PRODUCTION SYSTEMS  ·  MST DEPLOYMENT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Applications &amp; takeaways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36776"/>
            <a:ext cx="640080" cy="64008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5" name="Image 0" descr="i_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105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002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Network design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110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LAN topologies, telecom trunks and fibre backbones at minimum installation cost.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23744"/>
            <a:ext cx="640080" cy="64008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9" name="Image 1" descr="i_t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974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48716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Transportation systems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7980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Highway, rail and airline route planning that connects every city with the least asphalt and track.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10712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Image 2" descr="i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58444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3741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Machine learning &amp; clustering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6850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Single-linkage clustering removes the k − 1 heaviest MST edges to yield k natural clusters.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17" name="Image 3" descr="i_im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7141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2611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Image processing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572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Graph-based segmentation and edge extraction treat adjacent pixel gradients as weighted edges.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212080"/>
            <a:ext cx="6720840" cy="109728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" y="532180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PATHS, ONE CHEAPEST NETWORK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Kruskal's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sorts edges and merges a forest.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292608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Prim's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grows one tree from a root.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07492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Both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are greedy and optimal: cost 10.</a:t>
            </a:r>
            <a:endParaRPr lang="en-US" sz="1400" dirty="0"/>
          </a:p>
        </p:txBody>
      </p:sp>
      <p:pic>
        <p:nvPicPr>
          <p:cNvPr id="25" name="Image 4" descr="tower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ht Network">
  <a:themeElements>
    <a:clrScheme name="Night Network">
      <a:dk1>
        <a:srgbClr val="0B1230"/>
      </a:dk1>
      <a:lt1>
        <a:srgbClr val="F3F6FF"/>
      </a:lt1>
      <a:dk2>
        <a:srgbClr val="17214F"/>
      </a:dk2>
      <a:lt2>
        <a:srgbClr val="A9B4DC"/>
      </a:lt2>
      <a:accent1>
        <a:srgbClr val="F4B73F"/>
      </a:accent1>
      <a:accent2>
        <a:srgbClr val="3DDC97"/>
      </a:accent2>
      <a:accent3>
        <a:srgbClr val="4CC3FF"/>
      </a:accent3>
      <a:accent4>
        <a:srgbClr val="FF6B6B"/>
      </a:accent4>
      <a:accent5>
        <a:srgbClr val="8B7BFF"/>
      </a:accent5>
      <a:accent6>
        <a:srgbClr val="2B376E"/>
      </a:accent6>
      <a:hlink>
        <a:srgbClr val="4CC3FF"/>
      </a:hlink>
      <a:folHlink>
        <a:srgbClr val="8B7BFF"/>
      </a:folHlink>
    </a:clrScheme>
    <a:fontScheme name="Night Netwo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Spanning Tree Algorithms</dc:title>
  <dc:subject>PptxGenJS Presentation</dc:subject>
  <dc:creator>PptxGenJS</dc:creator>
  <cp:lastModifiedBy>PptxGenJS</cp:lastModifiedBy>
  <cp:revision>1</cp:revision>
  <dcterms:created xsi:type="dcterms:W3CDTF">2026-10-18T15:48:58Z</dcterms:created>
  <dcterms:modified xsi:type="dcterms:W3CDTF">2026-10-18T15:48:58Z</dcterms:modified>
</cp:coreProperties>
</file>